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Програмна система підтримки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формування та оцінювання резюме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Клієнтський вебзастосунок програмної системи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87168"/>
            <a:ext cx="3840480" cy="36576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334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Студент: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Малишкін Андрій Сергійович, ПЗПІ-23-2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Керівник: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Афанасьєва І. В., ст.викл. кафедри ПІ</a:t>
            </a:r>
            <a:endParaRPr lang="en-US" sz="1300" dirty="0"/>
          </a:p>
        </p:txBody>
      </p:sp>
      <p:pic>
        <p:nvPicPr>
          <p:cNvPr id="8" name="Image 0" descr="img/МОН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8664" y="4370832"/>
            <a:ext cx="2102663" cy="384048"/>
          </a:xfrm>
          <a:prstGeom prst="rect">
            <a:avLst/>
          </a:prstGeom>
        </p:spPr>
      </p:pic>
      <p:pic>
        <p:nvPicPr>
          <p:cNvPr id="9" name="Image 1" descr="img/ХНУР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087" y="4370832"/>
            <a:ext cx="1683274" cy="384048"/>
          </a:xfrm>
          <a:prstGeom prst="rect">
            <a:avLst/>
          </a:prstGeom>
        </p:spPr>
      </p:pic>
      <p:pic>
        <p:nvPicPr>
          <p:cNvPr id="10" name="Image 2" descr="img/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122" y="4370832"/>
            <a:ext cx="569214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pic>
        <p:nvPicPr>
          <p:cNvPr id="4" name="Image 0" descr="img/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099" y="105156"/>
            <a:ext cx="704741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0"/>
            <a:ext cx="7662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роботи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92608" y="804672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92608" y="804672"/>
            <a:ext cx="3931920" cy="43891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80467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353312"/>
            <a:ext cx="45720" cy="15544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13075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ATS-системи фільтрують резюме ще до рекрутера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609344"/>
            <a:ext cx="45720" cy="15544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" y="15636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Відхилення через формат або відсутність ключових слів, а не через брак кваліфікації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92608" y="2221992"/>
            <a:ext cx="3931920" cy="2715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92608" y="2221992"/>
            <a:ext cx="3931920" cy="53035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" y="222199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роботи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2862072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Спроєктувати та реалізувати вебінтерфейс користувача хмарної платформи GetJobAI, що забезпечує автентифікацію, покрокове створення резюме, інтерактивну оптимізацію та попередній перегляд в реальному часі.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89120" y="804672"/>
            <a:ext cx="443484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89120" y="804672"/>
            <a:ext cx="44348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89120" y="804672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0" y="1591056"/>
            <a:ext cx="64008" cy="3383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36592" y="147218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Проаналізувати предметну галузь та існуючі підходи до аналізу документів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0" y="2084832"/>
            <a:ext cx="64008" cy="3383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6592" y="196596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Сформувати вимоги до компонентів системи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0" y="2578608"/>
            <a:ext cx="64008" cy="3383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2459736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Спроєктувати архітектуру клієнтської частини та інтерфейсу користувача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0" y="3072384"/>
            <a:ext cx="64008" cy="3383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36592" y="2953512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інтерактивні форми з автозбереженням та валідацією Zod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0" y="3566160"/>
            <a:ext cx="64008" cy="3383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36592" y="3447288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Інтегрувати засоби WASM-компіляції Typst для рендерингу PDF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72000" y="4059936"/>
            <a:ext cx="64008" cy="3383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36592" y="394106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інтерфейси взаємодії з ШІ та оптимізації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72000" y="4553712"/>
            <a:ext cx="64008" cy="3383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592" y="443484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коректність роботи розроблених компонентів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320040" y="49377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GetJobAI  ·  Малишкін А.С.  ·  ПЗПІ-23-2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412480" y="49377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pic>
        <p:nvPicPr>
          <p:cNvPr id="4" name="Image 0" descr="img/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099" y="105156"/>
            <a:ext cx="704741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0"/>
            <a:ext cx="7662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проблеми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92608" y="804672"/>
            <a:ext cx="425196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92608" y="804672"/>
            <a:ext cx="4251960" cy="5029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941832"/>
            <a:ext cx="393192" cy="393192"/>
          </a:xfrm>
          <a:prstGeom prst="ellipse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94183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923544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Чуйність інтерфейсу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417320"/>
            <a:ext cx="3922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Компіляція Typst на клієнті у головному потоці JS може блокувати UI на 200–800 мс, створюючи затримки введення.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36592" y="804672"/>
            <a:ext cx="425196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36592" y="804672"/>
            <a:ext cx="4251960" cy="5029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01184" y="941832"/>
            <a:ext cx="393192" cy="393192"/>
          </a:xfrm>
          <a:prstGeom prst="ellipse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01184" y="94183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04104" y="923544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Втрата прогресу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01184" y="1417320"/>
            <a:ext cx="3922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резюме є тривалим процесом. Закриття вкладки або мережеві збої можуть призвести до повної втрати введених даних.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92608" y="2816352"/>
            <a:ext cx="425196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92608" y="2816352"/>
            <a:ext cx="4251960" cy="5029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953512"/>
            <a:ext cx="393192" cy="393192"/>
          </a:xfrm>
          <a:prstGeom prst="ellipse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95351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60120" y="2935224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Когнітивне навантаження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3429000"/>
            <a:ext cx="3922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Збір великої кількості персональних та професійних полів на одній сторінці викликає «усталість від форм» та помилки.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36592" y="2816352"/>
            <a:ext cx="425196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36592" y="2816352"/>
            <a:ext cx="4251960" cy="5029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01184" y="2953512"/>
            <a:ext cx="393192" cy="393192"/>
          </a:xfrm>
          <a:prstGeom prst="ellipse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01184" y="295351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404104" y="2935224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Розбіжність вигляду і розбору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901184" y="3429000"/>
            <a:ext cx="3922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Гарні візуальні макети часто виявляються некоректно розібраними ATS-системами, і навпаки.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20040" y="49377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GetJobAI  ·  Малишкін А.С.  ·  ПЗПІ-23-2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412480" y="49377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pic>
        <p:nvPicPr>
          <p:cNvPr id="4" name="Image 0" descr="img/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099" y="105156"/>
            <a:ext cx="704741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0"/>
            <a:ext cx="7662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існуючих рішень</a:t>
            </a:r>
            <a:endParaRPr lang="en-US" sz="2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292608" y="804672"/>
          <a:ext cx="8558784" cy="4069080"/>
        </p:xfrm>
        <a:graphic>
          <a:graphicData uri="http://schemas.openxmlformats.org/drawingml/2006/table">
            <a:tbl>
              <a:tblPr/>
              <a:tblGrid>
                <a:gridCol w="3072384"/>
                <a:gridCol w="1188720"/>
                <a:gridCol w="1188720"/>
                <a:gridCol w="1188720"/>
                <a:gridCol w="1920240"/>
              </a:tblGrid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Критерій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Jobscan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Worded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JobSprout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Введення даних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Текстові поля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Завантаження файлу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Блочний конструктор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WYSIWYG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 прев'ю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Відсутнє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Статичне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Миттєве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Миттєве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Керування структурою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Відсутнє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Відсутнє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Drag-and-drop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Фіксоване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Зворотний зв'язок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Бокова панель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Вкладки та оцінки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Контекстні іконки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Контекстний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Налаштування дизайну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Відсутнє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Відсутнє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Шрифти, палітри, сітка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Шаблони, палітри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20040" y="49377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GetJobAI  ·  Малишкін А.С.  ·  ПЗПІ-23-2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412480" y="49377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pic>
        <p:nvPicPr>
          <p:cNvPr id="4" name="Image 0" descr="img/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099" y="105156"/>
            <a:ext cx="704741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0"/>
            <a:ext cx="7662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задачі та опис системи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92608" y="804672"/>
            <a:ext cx="27432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92608" y="804672"/>
            <a:ext cx="2743200" cy="53035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8046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Клієнтський вебзастосунок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" y="1591056"/>
            <a:ext cx="64008" cy="33832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472184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Авторизація та профілі (Clerk Auth)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" y="2258568"/>
            <a:ext cx="64008" cy="33832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139696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9-кроковий майстер створення резюме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" y="2926080"/>
            <a:ext cx="64008" cy="33832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807208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Drag-to-reorder досвіду та освіти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5488" y="3593592"/>
            <a:ext cx="64008" cy="33832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474720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Автодоповнення навичок за словником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5488" y="4261104"/>
            <a:ext cx="64008" cy="33832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4142232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Імпорт і парсинг резюме (PDF/DOCX)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172968" y="804672"/>
            <a:ext cx="27432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72968" y="804672"/>
            <a:ext cx="2743200" cy="53035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72968" y="8046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 ШІ та оптимізації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355848" y="1591056"/>
            <a:ext cx="64008" cy="33832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20440" y="1472184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Відображення оцінки сумісності ATS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355848" y="2258568"/>
            <a:ext cx="64008" cy="33832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20440" y="2139696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Прийняття рекомендацій ШІ в diff-view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355848" y="2926080"/>
            <a:ext cx="64008" cy="33832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20440" y="2807208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XYZ-інструктор для опису досягнень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355848" y="3593592"/>
            <a:ext cx="64008" cy="33832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520440" y="3474720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супровідного листа (Cover Letter)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355848" y="4261104"/>
            <a:ext cx="64008" cy="33832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20440" y="4142232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Миттєва зміна Typst-шаблонів дизайну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053328" y="804672"/>
            <a:ext cx="27432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053328" y="804672"/>
            <a:ext cx="274320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53328" y="8046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 стійкість сесії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236208" y="1591056"/>
            <a:ext cx="64008" cy="3383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0800" y="1472184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Фонове автозбереження стану форм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236208" y="2258568"/>
            <a:ext cx="64008" cy="3383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00800" y="2139696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Дебаунс запитів (500 мс) при введенні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236208" y="2926080"/>
            <a:ext cx="64008" cy="3383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0800" y="2807208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Симетричне шифрування AES-256-GCM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236208" y="3593592"/>
            <a:ext cx="64008" cy="3383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00800" y="3474720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(LRU-Cache) на BFF-шлюзі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236208" y="4261104"/>
            <a:ext cx="64008" cy="3383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00800" y="4142232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Middleware-захист маршрутів у Next.js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320040" y="49377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GetJobAI  ·  Малишкін А.С.  ·  ПЗПІ-23-2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412480" y="49377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pic>
        <p:nvPicPr>
          <p:cNvPr id="4" name="Image 0" descr="img/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099" y="105156"/>
            <a:ext cx="704741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0"/>
            <a:ext cx="7662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технологій розробки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92608" y="8046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92608" y="804672"/>
            <a:ext cx="54864" cy="12984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8686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(App Router)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" y="1207008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" y="1335024"/>
            <a:ext cx="45720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" y="128016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BFF-шлюз для ізоляції мікросервісів та API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" y="1609344"/>
            <a:ext cx="45720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" y="155448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для рендерингу та оновлень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5488" y="1883664"/>
            <a:ext cx="45720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" y="182880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Гнучкий Next.js Middleware для захисту маршрутів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99432" y="8046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9432" y="804672"/>
            <a:ext cx="54864" cy="129844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45736" y="8686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45736" y="1207008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82312" y="1335024"/>
            <a:ext cx="45720" cy="16459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128016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Строга типізація від схеми БД до клієнтського UI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82312" y="1609344"/>
            <a:ext cx="45720" cy="16459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155448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Запобігання помилкам узгодження типів API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82312" y="1883664"/>
            <a:ext cx="45720" cy="16459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92040" y="182880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Автогенерація API-клієнтів за допомогою Orval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92608" y="219456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92608" y="2194560"/>
            <a:ext cx="54864" cy="12984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" y="22585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&amp; Neon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38912" y="2596896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5488" y="2724912"/>
            <a:ext cx="4572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5216" y="267004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Безсерверна хмарна БД Neon Postgres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75488" y="2999232"/>
            <a:ext cx="4572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5216" y="294436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Декларативне описання схем, швидкі міграції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75488" y="3273552"/>
            <a:ext cx="4572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5216" y="321868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Мінімальний обсяг коду без важкого рантайму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599432" y="219456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99432" y="2194560"/>
            <a:ext cx="54864" cy="12984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45736" y="22585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745736" y="2596896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82312" y="2724912"/>
            <a:ext cx="45720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92040" y="267004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Хмарний сервіс автентифікації користувачів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782312" y="2999232"/>
            <a:ext cx="45720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92040" y="294436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JWT-сесії, захищені файли cookie (HttpOnly)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782312" y="3273552"/>
            <a:ext cx="45720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92040" y="321868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Вбудована підтримка SSO та управління профілем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292608" y="358444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292608" y="3584448"/>
            <a:ext cx="54864" cy="12984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38912" y="36484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&amp; LRU-Cache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38912" y="3986784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5488" y="4114800"/>
            <a:ext cx="4572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85216" y="405993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 схем даних Zod на клієнті й BFF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75488" y="4389120"/>
            <a:ext cx="4572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85216" y="433425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 від некоректних вхідних JSON-запитів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75488" y="4663440"/>
            <a:ext cx="4572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85216" y="460857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Обмежувач швидкості запитів (10/с) на базі LRU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4599432" y="358444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4599432" y="3584448"/>
            <a:ext cx="54864" cy="12984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745736" y="36484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Typst WASM Compiler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4745736" y="3986784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782312" y="4114800"/>
            <a:ext cx="45720" cy="16459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892040" y="405993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Бібліотека @myriaddreamin/typst.ts у браузері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4782312" y="4389120"/>
            <a:ext cx="45720" cy="16459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892040" y="433425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Локальний рендеринг без звернення до сервера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782312" y="4663440"/>
            <a:ext cx="45720" cy="16459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892040" y="460857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 генерації PDF менше 200 мілісекунд</a:t>
            </a:r>
            <a:endParaRPr lang="en-US" sz="950" dirty="0"/>
          </a:p>
        </p:txBody>
      </p:sp>
      <p:sp>
        <p:nvSpPr>
          <p:cNvPr id="66" name="Text 63"/>
          <p:cNvSpPr/>
          <p:nvPr/>
        </p:nvSpPr>
        <p:spPr>
          <a:xfrm>
            <a:off x="320040" y="49377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GetJobAI  ·  Малишкін А.С.  ·  ПЗПІ-23-2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8412480" y="49377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pic>
        <p:nvPicPr>
          <p:cNvPr id="4" name="Image 0" descr="img/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099" y="105156"/>
            <a:ext cx="704741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0"/>
            <a:ext cx="7662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програмного забезпечення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20040" y="77724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Клієнт-серверна архітектура з патерном Backend-for-Frontend (BFF). Next.js middleware та Server Actions забезпечують безпечний зв'язок із БД, автентифікацію та ізоляцію внутрішніх API мікросервісів.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74320" y="1417320"/>
            <a:ext cx="192024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417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API-шлюз (Caddy)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31720" y="1417320"/>
            <a:ext cx="192024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31720" y="1417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розбору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1417320"/>
            <a:ext cx="1920240" cy="777240"/>
          </a:xfrm>
          <a:prstGeom prst="rect">
            <a:avLst/>
          </a:prstGeom>
          <a:solidFill>
            <a:srgbClr val="FFFDF5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1417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46520" y="1417320"/>
            <a:ext cx="1920240" cy="777240"/>
          </a:xfrm>
          <a:prstGeom prst="rect">
            <a:avLst/>
          </a:prstGeom>
          <a:solidFill>
            <a:srgbClr val="F0FDF4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417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векторизації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194560" y="1805940"/>
            <a:ext cx="137160" cy="0"/>
          </a:xfrm>
          <a:prstGeom prst="line">
            <a:avLst/>
          </a:prstGeom>
          <a:noFill/>
          <a:ln w="25400">
            <a:solidFill>
              <a:srgbClr val="1A294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51960" y="1805940"/>
            <a:ext cx="137160" cy="0"/>
          </a:xfrm>
          <a:prstGeom prst="line">
            <a:avLst/>
          </a:prstGeom>
          <a:noFill/>
          <a:ln w="25400">
            <a:solidFill>
              <a:srgbClr val="1A294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0" y="1805940"/>
            <a:ext cx="137160" cy="0"/>
          </a:xfrm>
          <a:prstGeom prst="line">
            <a:avLst/>
          </a:prstGeom>
          <a:noFill/>
          <a:ln w="25400">
            <a:solidFill>
              <a:srgbClr val="1A294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06640" y="2194560"/>
            <a:ext cx="0" cy="365760"/>
          </a:xfrm>
          <a:prstGeom prst="line">
            <a:avLst/>
          </a:prstGeom>
          <a:noFill/>
          <a:ln w="25400">
            <a:solidFill>
              <a:srgbClr val="1A294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6520" y="2560320"/>
            <a:ext cx="1920240" cy="777240"/>
          </a:xfrm>
          <a:prstGeom prst="rect">
            <a:avLst/>
          </a:prstGeom>
          <a:solidFill>
            <a:srgbClr val="FDF2F2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2560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(вектори)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89120" y="2560320"/>
            <a:ext cx="1920240" cy="777240"/>
          </a:xfrm>
          <a:prstGeom prst="rect">
            <a:avLst/>
          </a:prstGeom>
          <a:solidFill>
            <a:srgbClr val="F0FDF4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0" y="2560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оцінювання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331720" y="2560320"/>
            <a:ext cx="1920240" cy="777240"/>
          </a:xfrm>
          <a:prstGeom prst="rect">
            <a:avLst/>
          </a:prstGeom>
          <a:solidFill>
            <a:srgbClr val="FDF2F2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331720" y="2560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(структуровані дані)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72200" y="2948940"/>
            <a:ext cx="137160" cy="0"/>
          </a:xfrm>
          <a:prstGeom prst="line">
            <a:avLst/>
          </a:prstGeom>
          <a:noFill/>
          <a:ln w="25400">
            <a:solidFill>
              <a:srgbClr val="1A294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0" y="2948940"/>
            <a:ext cx="137160" cy="0"/>
          </a:xfrm>
          <a:prstGeom prst="line">
            <a:avLst/>
          </a:prstGeom>
          <a:noFill/>
          <a:ln w="25400">
            <a:solidFill>
              <a:srgbClr val="1A29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3566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Стек: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840480"/>
            <a:ext cx="7772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3840480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225296" y="3840480"/>
            <a:ext cx="11430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25296" y="3840480"/>
            <a:ext cx="1143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496312" y="3840480"/>
            <a:ext cx="9601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96312" y="3840480"/>
            <a:ext cx="960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584448" y="3840480"/>
            <a:ext cx="132588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584448" y="3840480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038344" y="3840480"/>
            <a:ext cx="9601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38344" y="3840480"/>
            <a:ext cx="960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0040" y="4315968"/>
            <a:ext cx="16916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0040" y="4315968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Gateway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139696" y="4315968"/>
            <a:ext cx="16916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139696" y="4315968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Typst WASM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959352" y="4315968"/>
            <a:ext cx="86868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959352" y="4315968"/>
            <a:ext cx="868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956048" y="4315968"/>
            <a:ext cx="9601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956048" y="4315968"/>
            <a:ext cx="960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20040" y="49377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GetJobAI  ·  Малишкін А.С.  ·  ПЗПІ-23-2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8412480" y="49377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pic>
        <p:nvPicPr>
          <p:cNvPr id="4" name="Image 0" descr="img/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099" y="105156"/>
            <a:ext cx="704741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0"/>
            <a:ext cx="7662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даних та автентифікація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92608" y="804672"/>
            <a:ext cx="3977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92608" y="804672"/>
            <a:ext cx="3977640" cy="5303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80467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Автентифікація Clerk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1472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 маршрутів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719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middleware та сесії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Авторизація запитів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3865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Axios-мутатор Orval (Bearer token)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2807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User-ID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3054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X-User-Id у запитах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 сесія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3721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Збереження в Neon Postgres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142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Унікальний індекс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wizard_sessions_user_active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434840" y="804672"/>
            <a:ext cx="43708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34840" y="804672"/>
            <a:ext cx="4370832" cy="53035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34840" y="804672"/>
            <a:ext cx="4370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Шифрування даних сесії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99432" y="1426464"/>
            <a:ext cx="404164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72584" y="14264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Алгоритм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949440" y="142646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Симетричне AEAD-шифрування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99432" y="1924812"/>
            <a:ext cx="404164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72584" y="19248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Стандарт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949440" y="19248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99432" y="2423160"/>
            <a:ext cx="404164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72584" y="24231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Вектор ініціалізації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949440" y="2423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12-байтовий випадковий IV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99432" y="2921508"/>
            <a:ext cx="404164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72584" y="29215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Автентифікаційний тег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949440" y="29215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16-байтовий тег цілісності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599432" y="3419856"/>
            <a:ext cx="4041648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72584" y="34198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Шифрування поля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949440" y="341985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step_data на прикладному рівні BFF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99432" y="3918204"/>
            <a:ext cx="4041648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72584" y="391820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Збереження ключів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949440" y="39182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оточення на хостингу Vercel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599432" y="4416552"/>
            <a:ext cx="4041648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72584" y="44165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Безпека даних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949440" y="44165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 чутливої інформації шукачів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320040" y="49377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GetJobAI  ·  Малишкін А.С.  ·  ПЗПІ-23-2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412480" y="49377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pic>
        <p:nvPicPr>
          <p:cNvPr id="4" name="Image 0" descr="img/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099" y="105156"/>
            <a:ext cx="704741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0"/>
            <a:ext cx="7662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Клієнтська WASM-компіляція та рендеринг Typst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2029968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04672"/>
            <a:ext cx="2029968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2336" y="9144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Ініціалізація WASM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2336" y="1554480"/>
            <a:ext cx="1773936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" y="1801368"/>
            <a:ext cx="54864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673352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Завантаження компілятора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912" y="2423160"/>
            <a:ext cx="54864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2295144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Компілятор @myriaddreamin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8912" y="3044952"/>
            <a:ext cx="54864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2916936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Підключення шрифтів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8912" y="3666744"/>
            <a:ext cx="54864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53872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Libertinus, JetBrains Mono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8912" y="4288536"/>
            <a:ext cx="54864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16052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 завантаження з CDN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432304" y="804672"/>
            <a:ext cx="2029968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9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432304" y="804672"/>
            <a:ext cx="2029968" cy="7315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60320" y="9144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Компіляція в браузері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560320" y="1554480"/>
            <a:ext cx="1773936" cy="0"/>
          </a:xfrm>
          <a:prstGeom prst="line">
            <a:avLst/>
          </a:prstGeom>
          <a:noFill/>
          <a:ln w="9525">
            <a:solidFill>
              <a:srgbClr val="1A294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596896" y="1801368"/>
            <a:ext cx="54864" cy="29260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24912" y="1673352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Конвертація стану форм у JSON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596896" y="2423160"/>
            <a:ext cx="54864" cy="29260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24912" y="2295144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Формування Typst-словника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596896" y="3044952"/>
            <a:ext cx="54864" cy="29260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24912" y="2916936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Одноразова компіляція в WASM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596896" y="3666744"/>
            <a:ext cx="54864" cy="29260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24912" y="353872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Uint8Array PDF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596896" y="4288536"/>
            <a:ext cx="54864" cy="292608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24912" y="416052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локальність: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Виключено затримки мережі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590288" y="804672"/>
            <a:ext cx="2029968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590288" y="804672"/>
            <a:ext cx="2029968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18304" y="9144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Canvas-рендеринг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718304" y="1554480"/>
            <a:ext cx="1773936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54880" y="1801368"/>
            <a:ext cx="54864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82896" y="1673352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Використання PdfCanvasRenderer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754880" y="2423160"/>
            <a:ext cx="54864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82896" y="2295144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малювання: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 елемент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754880" y="3044952"/>
            <a:ext cx="54864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82896" y="2916936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Коефіцієнт чіткості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754880" y="3666744"/>
            <a:ext cx="54864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82896" y="353872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devicePixelRatio * 1.5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4754880" y="4288536"/>
            <a:ext cx="54864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82896" y="416052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 рендеру: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150 мілісекунд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6748272" y="804672"/>
            <a:ext cx="2029968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748272" y="804672"/>
            <a:ext cx="2029968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876288" y="9144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Кастомні шаблони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6876288" y="1554480"/>
            <a:ext cx="1773936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912864" y="1801368"/>
            <a:ext cx="54864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040880" y="1673352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Гнучка параметризація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6912864" y="2423160"/>
            <a:ext cx="54864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040880" y="2295144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Minimalist: строгий стиль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6912864" y="3044952"/>
            <a:ext cx="54864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40880" y="2916936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акцент на код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6912864" y="3666744"/>
            <a:ext cx="54864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040880" y="353872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Professional: бізнес-шаблон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6912864" y="4288536"/>
            <a:ext cx="54864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040880" y="416052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Швидка зміна теми в один клік</a:t>
            </a:r>
            <a:endParaRPr lang="en-US" sz="1050" dirty="0"/>
          </a:p>
        </p:txBody>
      </p:sp>
      <p:sp>
        <p:nvSpPr>
          <p:cNvPr id="62" name="Text 59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Локальний живий попередній перегляд дозволяє користувачу контролювати вигляд документа без мережевих запитів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20040" y="49377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GetJobAI  ·  Малишкін А.С.  ·  ПЗПІ-23-2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8412480" y="49377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pic>
        <p:nvPicPr>
          <p:cNvPr id="4" name="Image 0" descr="img/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099" y="105156"/>
            <a:ext cx="704741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0"/>
            <a:ext cx="7662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клієнтських функцій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92608" y="804672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92608" y="804672"/>
            <a:ext cx="4069080" cy="5303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80467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Автозбереження з дебаунсом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609344"/>
            <a:ext cx="64008" cy="3383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49047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Відстеження подій введення (onChange) у полях форми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276856"/>
            <a:ext cx="64008" cy="3383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157984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Таймер відкладеної відправки (debounce 500 мс)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944368"/>
            <a:ext cx="64008" cy="3383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825496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Зменшення мережевих запитів та навантаження на БД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611880"/>
            <a:ext cx="64008" cy="3383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49300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Асинхронний запит до Next.js BFF API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279392"/>
            <a:ext cx="64008" cy="3383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4160520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Візуальний індикатор успішного збереження сесії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26280" y="804672"/>
            <a:ext cx="4434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26280" y="804672"/>
            <a:ext cx="4434840" cy="530352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804672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Динамічний перерахунок та інтерфейс оптимізації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690872" y="1472184"/>
            <a:ext cx="4105656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151790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Клієнтський перерахунок live-score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00600" y="18745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calculateLiveScore здійснює швидкий перерахунок оцінки сумісності на клієнті в реальному часі при прийнятті чи відхиленні рекомендацій.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743700" y="2834640"/>
            <a:ext cx="0" cy="256032"/>
          </a:xfrm>
          <a:prstGeom prst="line">
            <a:avLst/>
          </a:prstGeom>
          <a:noFill/>
          <a:ln w="25400">
            <a:solidFill>
              <a:srgbClr val="1A294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90872" y="3118104"/>
            <a:ext cx="4105656" cy="16002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316382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Підсвічування диффів та XYZ-інструктор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00600" y="3529584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Кольорова розмітка змін (зелений/червоний) у diff-view для пропозицій ШІ. Інтерактивні підказки (XYZ) спонукають користувача додавати кількісні досягнення.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Cover Letter (супровідних листів) відповідно до вакансії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Миттєвий перегляд результату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20040" y="49377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GetJobAI  ·  Малишкін А.С.  ·  ПЗПІ-23-2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412480" y="49377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pic>
        <p:nvPicPr>
          <p:cNvPr id="4" name="Image 0" descr="img/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099" y="105156"/>
            <a:ext cx="704741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0"/>
            <a:ext cx="7662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результатів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292608" y="804672"/>
            <a:ext cx="512064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92608" y="804672"/>
            <a:ext cx="5120640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80467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Виконання поставлених вимог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563624"/>
            <a:ext cx="301752" cy="301752"/>
          </a:xfrm>
          <a:prstGeom prst="ellipse">
            <a:avLst/>
          </a:prstGeom>
          <a:solidFill>
            <a:srgbClr val="F0FDF4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56362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1490472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автентифікація користувачів та захист маршрутів на рівні BFF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139696"/>
            <a:ext cx="301752" cy="301752"/>
          </a:xfrm>
          <a:prstGeom prst="ellipse">
            <a:avLst/>
          </a:prstGeom>
          <a:solidFill>
            <a:srgbClr val="F0FDF4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1396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2066544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9-кроковий майстер та окрема БД Neon Postgres для сесій майстра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715768"/>
            <a:ext cx="301752" cy="301752"/>
          </a:xfrm>
          <a:prstGeom prst="ellipse">
            <a:avLst/>
          </a:prstGeom>
          <a:solidFill>
            <a:srgbClr val="F0FDF4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7157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8680" y="2642616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Двоетапна система збереження стану форми з дебаунсом 500 мс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291840"/>
            <a:ext cx="301752" cy="301752"/>
          </a:xfrm>
          <a:prstGeom prst="ellipse">
            <a:avLst/>
          </a:prstGeom>
          <a:solidFill>
            <a:srgbClr val="F0FDF4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29184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68680" y="3218688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 WASM-компіляція Typst та Canvas-відображення у браузері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867912"/>
            <a:ext cx="301752" cy="301752"/>
          </a:xfrm>
          <a:prstGeom prst="ellipse">
            <a:avLst/>
          </a:prstGeom>
          <a:solidFill>
            <a:srgbClr val="F0FDF4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8679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" y="3794760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Split-pane редактор з інтерактивними змінами шаблонів та diff-view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443984"/>
            <a:ext cx="301752" cy="301752"/>
          </a:xfrm>
          <a:prstGeom prst="ellipse">
            <a:avLst/>
          </a:prstGeom>
          <a:solidFill>
            <a:srgbClr val="F0FDF4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44398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68680" y="4370832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резюме (PDF/DOCX) та генерація супровідних листів ШІ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577840" y="804672"/>
            <a:ext cx="33832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577840" y="804672"/>
            <a:ext cx="3383280" cy="5303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77840" y="80467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Виявлені обмеження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742432" y="1490472"/>
            <a:ext cx="3054096" cy="960120"/>
          </a:xfrm>
          <a:prstGeom prst="rect">
            <a:avLst/>
          </a:prstGeom>
          <a:solidFill>
            <a:srgbClr val="FF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33872" y="154533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Відсутність E2E-тестування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833872" y="1883664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інтеграційного тестування сценаріїв за допомогою Playwright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742432" y="2606040"/>
            <a:ext cx="3054096" cy="960120"/>
          </a:xfrm>
          <a:prstGeom prst="rect">
            <a:avLst/>
          </a:prstGeom>
          <a:solidFill>
            <a:srgbClr val="FF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266090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моніторингу помилок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833872" y="2999232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інтегровано сервіс збору логів роботи в реальному часі (Sentry)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742432" y="3721608"/>
            <a:ext cx="3054096" cy="960120"/>
          </a:xfrm>
          <a:prstGeom prst="rect">
            <a:avLst/>
          </a:prstGeom>
          <a:solidFill>
            <a:srgbClr val="FF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33872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Моніторинг Web Vitals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833872" y="411480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Потребує глибшого збору метрик продуктивності завантаження WASM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320040" y="49377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GetJobAI  ·  Малишкін А.С.  ·  ПЗПІ-23-2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8412480" y="49377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pic>
        <p:nvPicPr>
          <p:cNvPr id="4" name="Image 0" descr="img/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099" y="105156"/>
            <a:ext cx="704741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0"/>
            <a:ext cx="7662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Підсумки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64008" cy="50292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86868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Спроєктовано та реалізовано клієнтський вебзастосунок Next.js (T3 Stack) для супроводу створення та оцінки резюме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0040" y="1764792"/>
            <a:ext cx="64008" cy="50292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673352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Впроваджено Clerk автентифікацію, фонову Neon Postgres БД для сесій та AES-256-GCM шифрування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" y="2569464"/>
            <a:ext cx="64008" cy="50292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478024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Інтегровано клієнтський WASM-компілятор Typst для живого рендерингу та інтерфейс прийняття ШІ-пропозицій з diff-підсвіткою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0040" y="3374136"/>
            <a:ext cx="64008" cy="50292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28269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поставлені вимоги виконано в повному обсязі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20040" y="4407408"/>
            <a:ext cx="8503920" cy="475488"/>
          </a:xfrm>
          <a:prstGeom prst="rect">
            <a:avLst/>
          </a:prstGeom>
          <a:solidFill>
            <a:srgbClr val="F8FAFC"/>
          </a:solidFill>
          <a:ln w="19050">
            <a:solidFill>
              <a:srgbClr val="1A2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4074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Програмний код: github.com/GetJobAI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0040" y="49377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GetJobAI  ·  Малишкін А.С.  ·  ПЗПІ-23-2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12480" y="49377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GetJobAI — Модуль оцінювання відповідності резюме до вакансії, серверна частина</dc:title>
  <dc:subject>PptxGenJS Presentation</dc:subject>
  <dc:creator>Ситник Єгор Сергійович</dc:creator>
  <cp:lastModifiedBy>Ситник Єгор Сергійович</cp:lastModifiedBy>
  <cp:revision>1</cp:revision>
  <dcterms:created xsi:type="dcterms:W3CDTF">2026-06-06T12:04:50Z</dcterms:created>
  <dcterms:modified xsi:type="dcterms:W3CDTF">2026-06-06T12:04:50Z</dcterms:modified>
</cp:coreProperties>
</file>